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Georgia"/>
              </a:defRPr>
            </a:pPr>
            <a:r>
              <a:t>PROGETTO 4 – Simulatore di Avatar Umani Realistici</a:t>
            </a:r>
          </a:p>
          <a:p>
            <a:pPr algn="l">
              <a:spcBef>
                <a:spcPts val="2000"/>
              </a:spcBef>
              <a:defRPr sz="2000">
                <a:solidFill>
                  <a:srgbClr val="DC6432"/>
                </a:solidFill>
                <a:latin typeface="Arial"/>
              </a:defRPr>
            </a:pPr>
            <a:r>
              <a:t>Generazione di avatar controllabili e coerenti per scenari di Virtual Try-On</a:t>
            </a:r>
          </a:p>
          <a:p>
            <a:pPr algn="l">
              <a:spcBef>
                <a:spcPts val="4000"/>
              </a:spcBef>
              <a:defRPr sz="1400">
                <a:solidFill>
                  <a:srgbClr val="C8C8C8"/>
                </a:solidFill>
                <a:latin typeface="Arial"/>
              </a:defRPr>
            </a:pPr>
            <a:r>
              <a:t>Piattaforma: Python &amp; Open3D  |  Corpo Parametrico: SMPL / SMPLX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Georgia"/>
              </a:defRPr>
            </a:pPr>
            <a:r>
              <a:t>Background &amp; Obiettivi del Progetto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12529"/>
                </a:solidFill>
                <a:latin typeface="Arial"/>
              </a:defRPr>
            </a:pPr>
            <a:r>
              <a:t>Il Problema Parametrico Standard</a:t>
            </a:r>
          </a:p>
          <a:p>
            <a:pPr>
              <a:spcAft>
                <a:spcPts val="1000"/>
              </a:spcAft>
              <a:defRPr sz="1400">
                <a:solidFill>
                  <a:srgbClr val="646464"/>
                </a:solidFill>
                <a:latin typeface="Arial"/>
              </a:defRPr>
            </a:pPr>
            <a:r>
              <a:t>I modelli SMPL/SMPLX standard offrono coerenza matematica per pose e forme, ma risultano troppo astratti e difficili da configurare per scenari commerciali di Virtual Try-On.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800" b="1">
                <a:solidFill>
                  <a:srgbClr val="212529"/>
                </a:solidFill>
                <a:latin typeface="Arial"/>
              </a:defRPr>
            </a:pPr>
            <a:r>
              <a:t>L'Obiettivo Principale</a:t>
            </a:r>
          </a:p>
          <a:p>
            <a:pPr>
              <a:spcAft>
                <a:spcPts val="1000"/>
              </a:spcAft>
              <a:defRPr sz="1400">
                <a:solidFill>
                  <a:srgbClr val="646464"/>
                </a:solidFill>
                <a:latin typeface="Arial"/>
              </a:defRPr>
            </a:pPr>
            <a:r>
              <a:t>Costruire una pipeline interattiva per generare, misurare ed ottimizzare avatar 3D digitali a partire dalle reali proporzioni fisiche e antropometriche dell'utente.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800" b="1">
                <a:solidFill>
                  <a:srgbClr val="212529"/>
                </a:solidFill>
                <a:latin typeface="Arial"/>
              </a:defRPr>
            </a:pPr>
            <a:r>
              <a:t>Virtual Try-On Ready</a:t>
            </a:r>
          </a:p>
          <a:p>
            <a:pPr>
              <a:spcAft>
                <a:spcPts val="1000"/>
              </a:spcAft>
              <a:defRPr sz="1400">
                <a:solidFill>
                  <a:srgbClr val="646464"/>
                </a:solidFill>
                <a:latin typeface="Arial"/>
              </a:defRPr>
            </a:pPr>
            <a:r>
              <a:t>Garantire che l'avatar generato rispetti le proporzioni reali della persona e possa essere esportato in formati grafici standard per la simulazione di abbigliamento.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Georgia"/>
              </a:defRPr>
            </a:pPr>
            <a:r>
              <a:t>Architettura del Sistema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12529"/>
                </a:solidFill>
                <a:latin typeface="Arial"/>
              </a:defRPr>
            </a:pPr>
            <a:r>
              <a:t>1. Visualizzatore 3D GUI (Open3D)</a:t>
            </a:r>
          </a:p>
          <a:p>
            <a:pPr>
              <a:spcAft>
                <a:spcPts val="1000"/>
              </a:spcAft>
              <a:defRPr sz="1400">
                <a:solidFill>
                  <a:srgbClr val="646464"/>
                </a:solidFill>
                <a:latin typeface="Arial"/>
              </a:defRPr>
            </a:pPr>
            <a:r>
              <a:t>Interfaccia nativa Python che renderizza il modello corporeo in tempo reale, permettendo di manipolare betas, espressioni, giunti ed eseguire algoritmi IK.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800" b="1">
                <a:solidFill>
                  <a:srgbClr val="212529"/>
                </a:solidFill>
                <a:latin typeface="Arial"/>
              </a:defRPr>
            </a:pPr>
            <a:r>
              <a:t>2. Motore Geometrico di Misura</a:t>
            </a:r>
          </a:p>
          <a:p>
            <a:pPr>
              <a:spcAft>
                <a:spcPts val="1000"/>
              </a:spcAft>
              <a:defRPr sz="1400">
                <a:solidFill>
                  <a:srgbClr val="646464"/>
                </a:solidFill>
                <a:latin typeface="Arial"/>
              </a:defRPr>
            </a:pPr>
            <a:r>
              <a:t>Integrazione di SMPL-Anthropometry per estrarre sezioni piane tridimensionali (circonferenze) e distanze euclidee (altezze e lunghezze) direttamente sulla mesh.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64592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12529"/>
                </a:solidFill>
                <a:latin typeface="Arial"/>
              </a:defRPr>
            </a:pPr>
            <a:r>
              <a:t>3. Ottimizzatore di Fitting (SciPy)</a:t>
            </a:r>
          </a:p>
          <a:p>
            <a:pPr>
              <a:spcAft>
                <a:spcPts val="1000"/>
              </a:spcAft>
              <a:defRPr sz="1400">
                <a:solidFill>
                  <a:srgbClr val="646464"/>
                </a:solidFill>
                <a:latin typeface="Arial"/>
              </a:defRPr>
            </a:pPr>
            <a:r>
              <a:t>Implementazione del solutore L-BFGS-B. Risoluzione della non-smoothness delle mesh geometriche tramite sintonizzazione del passo delle differenze finite a eps=0.1.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800" b="1">
                <a:solidFill>
                  <a:srgbClr val="212529"/>
                </a:solidFill>
                <a:latin typeface="Arial"/>
              </a:defRPr>
            </a:pPr>
            <a:r>
              <a:t>4. Visualizzazione Overlay 3D</a:t>
            </a:r>
          </a:p>
          <a:p>
            <a:pPr>
              <a:spcAft>
                <a:spcPts val="1000"/>
              </a:spcAft>
              <a:defRPr sz="1400">
                <a:solidFill>
                  <a:srgbClr val="646464"/>
                </a:solidFill>
                <a:latin typeface="Arial"/>
              </a:defRPr>
            </a:pPr>
            <a:r>
              <a:t>Traduzione dei calcoli geometrici in LineSet e sfere renderizzate sopra l'avatar in tempo reale per evidenziare graficamente le misure effettuate.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Georgia"/>
              </a:defRPr>
            </a:pPr>
            <a:r>
              <a:t>Funzionalità e Integrazione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12529"/>
                </a:solidFill>
                <a:latin typeface="Arial"/>
              </a:defRPr>
            </a:pPr>
            <a:r>
              <a:t>Gestione dei Parametri Antropometrici</a:t>
            </a:r>
          </a:p>
          <a:p>
            <a:pPr>
              <a:spcAft>
                <a:spcPts val="1000"/>
              </a:spcAft>
              <a:defRPr sz="1400">
                <a:solidFill>
                  <a:srgbClr val="646464"/>
                </a:solidFill>
                <a:latin typeface="Arial"/>
              </a:defRPr>
            </a:pPr>
            <a:r>
              <a:t>La barra laterale include una sezione dedicata 'Measurements' per impostare i target fisici (altezza, petto, vita, fianchi, interno gamba, braccio) ed effettuare il fitting automatico.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800" b="1">
                <a:solidFill>
                  <a:srgbClr val="212529"/>
                </a:solidFill>
                <a:latin typeface="Arial"/>
              </a:defRPr>
            </a:pPr>
            <a:r>
              <a:t>Misurazioni in Tempo Reale</a:t>
            </a:r>
          </a:p>
          <a:p>
            <a:pPr>
              <a:spcAft>
                <a:spcPts val="1000"/>
              </a:spcAft>
              <a:defRPr sz="1400">
                <a:solidFill>
                  <a:srgbClr val="646464"/>
                </a:solidFill>
                <a:latin typeface="Arial"/>
              </a:defRPr>
            </a:pPr>
            <a:r>
              <a:t>I dati fisici effettivi dell'avatar (in cm) sono mostrati e aggiornati istantaneamente quando l'utente trascina i cursori manuali della stazza e delle proporzioni.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64592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12529"/>
                </a:solidFill>
                <a:latin typeface="Arial"/>
              </a:defRPr>
            </a:pPr>
            <a:r>
              <a:t>Overlay Geometrico Interattivo</a:t>
            </a:r>
          </a:p>
          <a:p>
            <a:pPr>
              <a:spcAft>
                <a:spcPts val="1000"/>
              </a:spcAft>
              <a:defRPr sz="1400">
                <a:solidFill>
                  <a:srgbClr val="646464"/>
                </a:solidFill>
                <a:latin typeface="Arial"/>
              </a:defRPr>
            </a:pPr>
            <a:r>
              <a:t>Una selezione dropdown consente di visualizzare la linea della misura selezionata (es. circonferenza petto o altezza) direttamente sulla superficie dell'avatar 3D.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800" b="1">
                <a:solidFill>
                  <a:srgbClr val="212529"/>
                </a:solidFill>
                <a:latin typeface="Arial"/>
              </a:defRPr>
            </a:pPr>
            <a:r>
              <a:t>Esportazione Mesh OBJ</a:t>
            </a:r>
          </a:p>
          <a:p>
            <a:pPr>
              <a:spcAft>
                <a:spcPts val="1000"/>
              </a:spcAft>
              <a:defRPr sz="1400">
                <a:solidFill>
                  <a:srgbClr val="646464"/>
                </a:solidFill>
                <a:latin typeface="Arial"/>
              </a:defRPr>
            </a:pPr>
            <a:r>
              <a:t>L'avatar personalizzato e posato può essere esportato direttamente dal menu File in formato OBJ standard, completo di normali e topologia pronte per Unity o Blender.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Georgia"/>
              </a:defRPr>
            </a:pPr>
            <a:r>
              <a:t>Risultati dell'Ottimizzazione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12529"/>
                </a:solidFill>
                <a:latin typeface="Arial"/>
              </a:defRPr>
            </a:pPr>
            <a:r>
              <a:t>Fitting Numerico in Tempo Reale</a:t>
            </a:r>
          </a:p>
          <a:p>
            <a:pPr>
              <a:spcAft>
                <a:spcPts val="1000"/>
              </a:spcAft>
              <a:defRPr sz="1400">
                <a:solidFill>
                  <a:srgbClr val="646464"/>
                </a:solidFill>
                <a:latin typeface="Arial"/>
              </a:defRPr>
            </a:pPr>
            <a:r>
              <a:t>L'ottimizzazione automatica L-BFGS-B trova i parametri di forma ottimali in meno di 2 secondi, garantendo fluidità nell'interazione utente.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800" b="1">
                <a:solidFill>
                  <a:srgbClr val="212529"/>
                </a:solidFill>
                <a:latin typeface="Arial"/>
              </a:defRPr>
            </a:pPr>
            <a:r>
              <a:t>Precisione Estrema</a:t>
            </a:r>
          </a:p>
          <a:p>
            <a:pPr>
              <a:spcAft>
                <a:spcPts val="1000"/>
              </a:spcAft>
              <a:defRPr sz="1400">
                <a:solidFill>
                  <a:srgbClr val="646464"/>
                </a:solidFill>
                <a:latin typeface="Arial"/>
              </a:defRPr>
            </a:pPr>
            <a:r>
              <a:t>La tolleranza e la convergenza mostrano scarti medi inferiori a 1 cm sulle misure target desiderate, garantendo una fedele riproduzione antropometrica.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64592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12529"/>
                </a:solidFill>
                <a:latin typeface="Arial"/>
              </a:defRPr>
            </a:pPr>
            <a:r>
              <a:t>Esempio Pratico head-to-head</a:t>
            </a:r>
          </a:p>
          <a:p>
            <a:pPr>
              <a:spcAft>
                <a:spcPts val="1000"/>
              </a:spcAft>
              <a:defRPr sz="1400">
                <a:solidFill>
                  <a:srgbClr val="646464"/>
                </a:solidFill>
                <a:latin typeface="Arial"/>
              </a:defRPr>
            </a:pPr>
            <a:r>
              <a:t>Modello neutro SMPL di partenza: Altezza = 170.8 cm, Petto = 100.9 cm.</a:t>
            </a:r>
            <a:br/>
            <a:r>
              <a:t>Target inseriti: Altezza = 175.0 cm, Petto = 95.0 cm.</a:t>
            </a:r>
            <a:br/>
            <a:r>
              <a:t>Risultato ottimizzato: Altezza = 174.3 cm, Petto = 94.9 cm.</a:t>
            </a:r>
            <a:br/>
            <a:r>
              <a:t>Coerenza e proporzioni corporee preservate in automatico.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Georgia"/>
              </a:defRPr>
            </a:pPr>
            <a:r>
              <a:t>Conclusioni e Sviluppi Futuri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12529"/>
                </a:solidFill>
                <a:latin typeface="Arial"/>
              </a:defRPr>
            </a:pPr>
            <a:r>
              <a:t>Traguardi Raggiunti</a:t>
            </a:r>
          </a:p>
          <a:p>
            <a:pPr>
              <a:spcAft>
                <a:spcPts val="1000"/>
              </a:spcAft>
              <a:defRPr sz="1400">
                <a:solidFill>
                  <a:srgbClr val="646464"/>
                </a:solidFill>
                <a:latin typeface="Arial"/>
              </a:defRPr>
            </a:pPr>
            <a:r>
              <a:t>Pipeline completa 'misure -&gt; avatar 3D' funzionante, controllabile in posa/forma, verificata ed esportabile. Soddisfa appieno tutti i criteri del bando di progetto.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800" b="1">
                <a:solidFill>
                  <a:srgbClr val="212529"/>
                </a:solidFill>
                <a:latin typeface="Arial"/>
              </a:defRPr>
            </a:pPr>
            <a:r>
              <a:t>Integrazione Unity</a:t>
            </a:r>
          </a:p>
          <a:p>
            <a:pPr>
              <a:spcAft>
                <a:spcPts val="1000"/>
              </a:spcAft>
              <a:defRPr sz="1400">
                <a:solidFill>
                  <a:srgbClr val="646464"/>
                </a:solidFill>
                <a:latin typeface="Arial"/>
              </a:defRPr>
            </a:pPr>
            <a:r>
              <a:t>La mesh OBJ esportata mantiene intatta la topologia SMPL/SMPLX, rendendola compatibile con blendshape e rigging in Unity per successive animazioni.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800" b="1">
                <a:solidFill>
                  <a:srgbClr val="212529"/>
                </a:solidFill>
                <a:latin typeface="Arial"/>
              </a:defRPr>
            </a:pPr>
            <a:r>
              <a:t>Virtual Try-On Avanzato</a:t>
            </a:r>
          </a:p>
          <a:p>
            <a:pPr>
              <a:spcAft>
                <a:spcPts val="1000"/>
              </a:spcAft>
              <a:defRPr sz="1400">
                <a:solidFill>
                  <a:srgbClr val="646464"/>
                </a:solidFill>
                <a:latin typeface="Arial"/>
              </a:defRPr>
            </a:pPr>
            <a:r>
              <a:t>Base ideale per simulazioni di vestizione 3D (es. Marvelous Designer o plugin Unity Cloth), dove la precisione delle circonferenze corporee determina la vestibilità reale del capo.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